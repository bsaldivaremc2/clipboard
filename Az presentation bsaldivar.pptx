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e0293b4aa063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e0293b4aa063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e0293b4aa0635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e0293b4aa0635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2.jp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0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emini_Generated_Image_9kd4un9kd4un9kd4_toTransparent.png"/>
          <p:cNvPicPr preferRelativeResize="0"/>
          <p:nvPr/>
        </p:nvPicPr>
        <p:blipFill rotWithShape="1">
          <a:blip r:embed="rId3">
            <a:alphaModFix/>
          </a:blip>
          <a:srcRect b="13739" l="0" r="0" t="14479"/>
          <a:stretch/>
        </p:blipFill>
        <p:spPr>
          <a:xfrm>
            <a:off x="3134625" y="151350"/>
            <a:ext cx="2594176" cy="18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35521" r="31997" t="0"/>
          <a:stretch/>
        </p:blipFill>
        <p:spPr>
          <a:xfrm>
            <a:off x="7509150" y="209025"/>
            <a:ext cx="567350" cy="174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5">
            <a:alphaModFix/>
          </a:blip>
          <a:srcRect b="11958" l="9388" r="8260" t="12457"/>
          <a:stretch/>
        </p:blipFill>
        <p:spPr>
          <a:xfrm>
            <a:off x="6302062" y="248075"/>
            <a:ext cx="788626" cy="72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b="11693" l="0" r="0" t="17223"/>
          <a:stretch/>
        </p:blipFill>
        <p:spPr>
          <a:xfrm flipH="1">
            <a:off x="6040574" y="1331176"/>
            <a:ext cx="1311601" cy="93229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7198975" y="527525"/>
            <a:ext cx="201900" cy="165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620031"/>
          </a:solidFill>
          <a:ln cap="flat" cmpd="sng" w="9525">
            <a:solidFill>
              <a:srgbClr val="6200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-5400000">
            <a:off x="6595413" y="1069063"/>
            <a:ext cx="201900" cy="165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620031"/>
          </a:solidFill>
          <a:ln cap="flat" cmpd="sng" w="9525">
            <a:solidFill>
              <a:srgbClr val="6200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572000" y="1955750"/>
            <a:ext cx="1311600" cy="88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620031"/>
          </a:solidFill>
          <a:ln cap="flat" cmpd="sng" w="9525">
            <a:solidFill>
              <a:srgbClr val="6200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8475" y="209022"/>
            <a:ext cx="719301" cy="71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78500" y="1249750"/>
            <a:ext cx="719301" cy="719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3"/>
          <p:cNvCxnSpPr/>
          <p:nvPr/>
        </p:nvCxnSpPr>
        <p:spPr>
          <a:xfrm>
            <a:off x="8164738" y="91075"/>
            <a:ext cx="25500" cy="2121000"/>
          </a:xfrm>
          <a:prstGeom prst="straightConnector1">
            <a:avLst/>
          </a:prstGeom>
          <a:noFill/>
          <a:ln cap="flat" cmpd="sng" w="28575">
            <a:solidFill>
              <a:srgbClr val="62003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>
            <a:off x="3164350" y="2290475"/>
            <a:ext cx="5894400" cy="27600"/>
          </a:xfrm>
          <a:prstGeom prst="straightConnector1">
            <a:avLst/>
          </a:prstGeom>
          <a:noFill/>
          <a:ln cap="flat" cmpd="sng" w="28575">
            <a:solidFill>
              <a:srgbClr val="62003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409850" y="91075"/>
            <a:ext cx="19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620031"/>
                </a:solidFill>
              </a:rPr>
              <a:t>Bryan Saldivar</a:t>
            </a:r>
            <a:endParaRPr b="1" sz="1800">
              <a:solidFill>
                <a:srgbClr val="62003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19350" y="459275"/>
            <a:ext cx="27051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0031"/>
                </a:solidFill>
              </a:rPr>
              <a:t>TGS - AZ: MoAI </a:t>
            </a:r>
            <a:br>
              <a:rPr lang="en-GB" sz="1100">
                <a:solidFill>
                  <a:srgbClr val="620031"/>
                </a:solidFill>
              </a:rPr>
            </a:br>
            <a:r>
              <a:rPr lang="en-GB" sz="1100">
                <a:solidFill>
                  <a:srgbClr val="620031"/>
                </a:solidFill>
              </a:rPr>
              <a:t>rate limits</a:t>
            </a:r>
            <a:endParaRPr sz="11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PostDoc (GenAI)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Patent</a:t>
            </a:r>
            <a:endParaRPr sz="1300">
              <a:solidFill>
                <a:srgbClr val="62003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620031"/>
                </a:solidFill>
              </a:rPr>
              <a:t>3rd - data science BBVA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PhD Mutation prediction. </a:t>
            </a:r>
            <a:br>
              <a:rPr lang="en-GB" sz="1300">
                <a:solidFill>
                  <a:srgbClr val="620031"/>
                </a:solidFill>
              </a:rPr>
            </a:br>
            <a:r>
              <a:rPr lang="en-GB" sz="1300">
                <a:solidFill>
                  <a:srgbClr val="620031"/>
                </a:solidFill>
              </a:rPr>
              <a:t>GenAI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Research assistant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Patent consultant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MS. Public policy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IT engineer</a:t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200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20031"/>
                </a:solidFill>
              </a:rPr>
              <a:t>B.Sc. Telecom. Eng. </a:t>
            </a:r>
            <a:endParaRPr sz="1500">
              <a:solidFill>
                <a:srgbClr val="620031"/>
              </a:solidFill>
            </a:endParaRPr>
          </a:p>
        </p:txBody>
      </p:sp>
      <p:cxnSp>
        <p:nvCxnSpPr>
          <p:cNvPr id="67" name="Google Shape;67;p13"/>
          <p:cNvCxnSpPr/>
          <p:nvPr/>
        </p:nvCxnSpPr>
        <p:spPr>
          <a:xfrm flipH="1">
            <a:off x="2746550" y="692650"/>
            <a:ext cx="25500" cy="3441900"/>
          </a:xfrm>
          <a:prstGeom prst="straightConnector1">
            <a:avLst/>
          </a:prstGeom>
          <a:noFill/>
          <a:ln cap="flat" cmpd="sng" w="28575">
            <a:solidFill>
              <a:srgbClr val="62003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 flipH="1">
            <a:off x="123700" y="1134875"/>
            <a:ext cx="25500" cy="3441900"/>
          </a:xfrm>
          <a:prstGeom prst="straightConnector1">
            <a:avLst/>
          </a:prstGeom>
          <a:noFill/>
          <a:ln cap="flat" cmpd="sng" w="28575">
            <a:solidFill>
              <a:srgbClr val="62003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/>
          <p:nvPr/>
        </p:nvSpPr>
        <p:spPr>
          <a:xfrm>
            <a:off x="72900" y="4450763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0" name="Google Shape;70;p13"/>
          <p:cNvSpPr/>
          <p:nvPr/>
        </p:nvSpPr>
        <p:spPr>
          <a:xfrm>
            <a:off x="72900" y="3677525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1" name="Google Shape;71;p13"/>
          <p:cNvSpPr/>
          <p:nvPr/>
        </p:nvSpPr>
        <p:spPr>
          <a:xfrm>
            <a:off x="72900" y="2350600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2" name="Google Shape;72;p13"/>
          <p:cNvSpPr/>
          <p:nvPr/>
        </p:nvSpPr>
        <p:spPr>
          <a:xfrm>
            <a:off x="72900" y="1134875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3" name="Google Shape;73;p13"/>
          <p:cNvSpPr/>
          <p:nvPr/>
        </p:nvSpPr>
        <p:spPr>
          <a:xfrm>
            <a:off x="2696300" y="603425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4" name="Google Shape;74;p13"/>
          <p:cNvSpPr/>
          <p:nvPr/>
        </p:nvSpPr>
        <p:spPr>
          <a:xfrm>
            <a:off x="2696300" y="1512400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5" name="Google Shape;75;p13"/>
          <p:cNvSpPr/>
          <p:nvPr/>
        </p:nvSpPr>
        <p:spPr>
          <a:xfrm>
            <a:off x="2696300" y="1766400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6" name="Google Shape;76;p13"/>
          <p:cNvSpPr/>
          <p:nvPr/>
        </p:nvSpPr>
        <p:spPr>
          <a:xfrm>
            <a:off x="2696300" y="2926775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7" name="Google Shape;77;p13"/>
          <p:cNvSpPr/>
          <p:nvPr/>
        </p:nvSpPr>
        <p:spPr>
          <a:xfrm>
            <a:off x="2696300" y="3328500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sp>
        <p:nvSpPr>
          <p:cNvPr id="78" name="Google Shape;78;p13"/>
          <p:cNvSpPr/>
          <p:nvPr/>
        </p:nvSpPr>
        <p:spPr>
          <a:xfrm>
            <a:off x="2696300" y="4134550"/>
            <a:ext cx="126000" cy="126000"/>
          </a:xfrm>
          <a:prstGeom prst="ellipse">
            <a:avLst/>
          </a:prstGeom>
          <a:solidFill>
            <a:srgbClr val="620031"/>
          </a:solidFill>
          <a:ln cap="flat" cmpd="sng" w="12075">
            <a:solidFill>
              <a:srgbClr val="E59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500" lIns="57500" spcFirstLastPara="1" rIns="57500" wrap="square" tIns="5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2"/>
          </a:p>
        </p:txBody>
      </p:sp>
      <p:pic>
        <p:nvPicPr>
          <p:cNvPr id="79" name="Google Shape;79;p13" title="collage_2rows_8a005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5638" y="2480200"/>
            <a:ext cx="5527025" cy="25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10">
            <a:alphaModFix/>
          </a:blip>
          <a:srcRect b="10" l="0" r="0" t="0"/>
          <a:stretch/>
        </p:blipFill>
        <p:spPr>
          <a:xfrm>
            <a:off x="0" y="4826100"/>
            <a:ext cx="317420" cy="317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003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title="guitar_toTransparent.png"/>
          <p:cNvPicPr preferRelativeResize="0"/>
          <p:nvPr/>
        </p:nvPicPr>
        <p:blipFill rotWithShape="1">
          <a:blip r:embed="rId3">
            <a:alphaModFix/>
          </a:blip>
          <a:srcRect b="0" l="40727" r="38428" t="0"/>
          <a:stretch/>
        </p:blipFill>
        <p:spPr>
          <a:xfrm rot="5400000">
            <a:off x="1170437" y="3344613"/>
            <a:ext cx="807926" cy="21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title="bars1_toTransparent.png"/>
          <p:cNvPicPr preferRelativeResize="0"/>
          <p:nvPr/>
        </p:nvPicPr>
        <p:blipFill rotWithShape="1">
          <a:blip r:embed="rId4">
            <a:alphaModFix/>
          </a:blip>
          <a:srcRect b="16667" l="0" r="0" t="0"/>
          <a:stretch/>
        </p:blipFill>
        <p:spPr>
          <a:xfrm>
            <a:off x="6598563" y="88925"/>
            <a:ext cx="1264925" cy="183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 title="3fc8af03-1d3c-4c25-ba74-fbe8b6ed5dc7_toTransparent.png"/>
          <p:cNvPicPr preferRelativeResize="0"/>
          <p:nvPr/>
        </p:nvPicPr>
        <p:blipFill rotWithShape="1">
          <a:blip r:embed="rId5">
            <a:alphaModFix/>
          </a:blip>
          <a:srcRect b="1305" l="5968" r="18956" t="26602"/>
          <a:stretch/>
        </p:blipFill>
        <p:spPr>
          <a:xfrm>
            <a:off x="3225800" y="796000"/>
            <a:ext cx="2692401" cy="348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title="Gemini_Generated_Image_12ti012ti012ti01_toTranspar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874" y="2301625"/>
            <a:ext cx="1974646" cy="11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 title="Gemini_Generated_Image_5br1fc5br1fc5br1_toTransparent.png"/>
          <p:cNvPicPr preferRelativeResize="0"/>
          <p:nvPr/>
        </p:nvPicPr>
        <p:blipFill rotWithShape="1">
          <a:blip r:embed="rId7">
            <a:alphaModFix amt="50000"/>
          </a:blip>
          <a:srcRect b="37009" l="26028" r="12236" t="16982"/>
          <a:stretch/>
        </p:blipFill>
        <p:spPr>
          <a:xfrm>
            <a:off x="6508400" y="3508975"/>
            <a:ext cx="1445250" cy="145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title="Gemini_Generated_Image_8sfnxr8sfnxr8sfn_toTransparent.png"/>
          <p:cNvPicPr preferRelativeResize="0"/>
          <p:nvPr/>
        </p:nvPicPr>
        <p:blipFill rotWithShape="1">
          <a:blip r:embed="rId8">
            <a:alphaModFix amt="37000"/>
          </a:blip>
          <a:srcRect b="46410" l="18774" r="19264" t="10875"/>
          <a:stretch/>
        </p:blipFill>
        <p:spPr>
          <a:xfrm>
            <a:off x="6508400" y="2044649"/>
            <a:ext cx="1445250" cy="134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title="Gemini_Generated_Image_qeqm35qeqm35qeqm_toTranspar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6438" y="512401"/>
            <a:ext cx="2155525" cy="1203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4757525"/>
            <a:ext cx="385975" cy="3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